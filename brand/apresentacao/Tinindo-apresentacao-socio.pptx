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ff603b6-a4fc-48e4-3a36-cc05da43d319}">
          <p14:sldIdLst>
            <p14:sldId id="256"/>
            <p14:sldId id="257"/>
          </p14:sldIdLst>
        </p14:section>
        <p14:section name="Estratégia" id="{bd75b99f-1326-f5fa-cae2-b06f72e9a2d4}">
          <p14:sldIdLst>
            <p14:sldId id="258"/>
            <p14:sldId id="259"/>
            <p14:sldId id="260"/>
            <p14:sldId id="261"/>
            <p14:sldId id="262"/>
          </p14:sldIdLst>
        </p14:section>
        <p14:section name="Caminho da identidade" id="{d7170b09-ac1b-4d4d-2484-d4e88887ac06}">
          <p14:sldIdLst>
            <p14:sldId id="263"/>
            <p14:sldId id="264"/>
          </p14:sldIdLst>
        </p14:section>
        <p14:section name="Logotipo" id="{acc4d8da-d2d4-2c02-6af6-9a75b2fec199}">
          <p14:sldIdLst>
            <p14:sldId id="265"/>
            <p14:sldId id="266"/>
            <p14:sldId id="267"/>
            <p14:sldId id="271"/>
            <p14:sldId id="272"/>
          </p14:sldIdLst>
        </p14:section>
        <p14:section name="Cor, tipografia e produto" id="{e4a7cefd-b4fd-4432-ad1b-3205194ac3d9}">
          <p14:sldIdLst>
            <p14:sldId id="268"/>
            <p14:sldId id="269"/>
            <p14:sldId id="270"/>
            <p14:sldId id="273"/>
            <p14:sldId id="274"/>
            <p14:sldId id="275"/>
          </p14:sldIdLst>
        </p14:section>
        <p14:section name="Aplicações, voz e próximos passos" id="{f302e51d-7cdf-ccb5-338f-eafe30b227a5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Notas de 0 a 10 (julgamento de design)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Território B (arco e ponto)</c:v>
                </c:pt>
              </c:strCache>
            </c:strRef>
          </c:tx>
          <c:spPr>
            <a:solidFill>
              <a:srgbClr val="BDBD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Adequação (20%)</c:v>
                  </c:pt>
                  <c:pt idx="1">
                    <c:v>Distinção (20%)</c:v>
                  </c:pt>
                  <c:pt idx="2">
                    <c:v>Pequenas escalas (15%)</c:v>
                  </c:pt>
                  <c:pt idx="3">
                    <c:v>Memorização (15%)</c:v>
                  </c:pt>
                  <c:pt idx="4">
                    <c:v>Reprodução (15%)</c:v>
                  </c:pt>
                  <c:pt idx="5">
                    <c:v>Expansão (10%)</c:v>
                  </c:pt>
                  <c:pt idx="6">
                    <c:v>Coerência (5%)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Sorriso (escolhido)</c:v>
                </c:pt>
              </c:strCache>
            </c:strRef>
          </c:tx>
          <c:spPr>
            <a:solidFill>
              <a:srgbClr val="FF4B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Adequação (20%)</c:v>
                  </c:pt>
                  <c:pt idx="1">
                    <c:v>Distinção (20%)</c:v>
                  </c:pt>
                  <c:pt idx="2">
                    <c:v>Pequenas escalas (15%)</c:v>
                  </c:pt>
                  <c:pt idx="3">
                    <c:v>Memorização (15%)</c:v>
                  </c:pt>
                  <c:pt idx="4">
                    <c:v>Reprodução (15%)</c:v>
                  </c:pt>
                  <c:pt idx="5">
                    <c:v>Expansão (10%)</c:v>
                  </c:pt>
                  <c:pt idx="6">
                    <c:v>Coerência (5%)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5</c:v>
                </c:pt>
                <c:pt idx="2">
                  <c:v>6</c:v>
                </c:pt>
                <c:pt idx="3">
                  <c:v>9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DEDE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apresentação reúne a estratégia de marca e a identidade visual desenhadas com o fundador. Tudo é proposta: a assinatura verbal não está aprovada, a marca não está registrada e a diligência jurídica ainda não foi feita. O objetivo de hoje é decidir se seguimos com esta direção.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Roteiro. A primeira parte é de estratégia (por que existimos); a segunda mostra o caminho que levou ao conceito; depois o logotipo e o sistema; no fim, o que ainda não sabemos e o que precisamos decidir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tese central. Deixar claro que é hipótese: ainda não entrevistamos profissionais. A frase 'ajuda a fazer o negócio funcionar' é de trabalho. O princípio do produto explica por que WhatsApp e voz importam: a interface principal é conversacional; o sistema de gestão fica por 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lados. Começamos pelo aplicativo do prestador; o contratante é a visão. O marketplace depende de oferta, demanda, confiança e densidade local: condomínios são um laboratório proposto, não uma estratégia comercial fechada. As ambições futuras (escolas, certificação, equipes próprias) são direção, não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públicos e o que cada um teme. O ponto de tom: respeito ao ofício. Também: confiança visual não é garantia operacional; um selo bonito não prova verificação, habilitação ou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Posicionamento e limites. A promessa é deliberadamente modesta: organização e clareza, não resultado financeiro. A descrição em uma frase está no rodapé; a de até 80 palavras está no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atributos vêm do briefing. O mais delicado é o segundo: queremos proximidade (sorriso) sem infantilizar, por isso o traço é fino e o preto é a cor-base.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territórios iniciais (A, B, C) foram desenhados com mesmo conteúdo para comparação justa. Nota importante: a primeira versão do kit foi feita no território B; depois o fundador direcionou para outra linha. O kit B está arquivado na pasta de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caminho foi conduzido pelo fundador: a ideia do sorriso (pingos como olhos e o 'O' como boca) foi dele. Nós testamos largura (180° e 220°), cor, e o que deixaria o rosto 'mais feliz': olhos maiores, sorriso mais grosso no meio, anel superior fino e inclinação. O recorte no meio do sorriso surgiu da observação de que, sem o anel, o sorriso parece duas pessoas se encontrando, o que serve ao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em três ideias. Vale mencionar o risco: rosto sorridente é um motivo comum e pode soar infantil; mitigamos com letras finas, preto adulto e a regra de que a interface não usa rostos decorativos. A nossa distinção em relação a marcas existentes ainda não foi pesquisada.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Anatomia. A palavra não é uma fonte: é lettering desenhado com geometria vetorial; só existem as letras T, I, N, D e O. O 'O' da palavra é exatamente o mesmo desenho do símbolo.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do símbolo. A versão com anel só em tamanhos grandes; sem anel é a principal porque o rosto aberto também sugere duas pessoas se encontrando. A fresta é a solução para uma cor (serigrafia, bordado simples).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paleta. O preto é a marca (adulto, firme), o laranja é a cor forte que o fundador pediu, usado como destaque. Proporção sugerida: cerca de 70% papel/tinta, 25% neutros, até 5% laranja.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de cor. Os 36 pares semânticos (claro e escuro) passam nos limiares de contraste calculados por script. Risco aceito: o âmbar de atenção e o vermelho de erro ficam perto do laranja da marca; por isso o laranja é decorativo e todo estado vem com ícone e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Tipografia. Uma família variável para reduzir custo de carregamento. O wordmark é independente da fonte de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para o dia a dia: ícone do app, avatar (testado em recorte circular) e favicon. O favicon.ico ainda não foi gerado (será feito no build do produto).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de aplicação. A medida mais importante: a palavra, por ser fina, precisa de 120 px. Para tamanhos menores, o símbolo faz 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vitrine é HTML navegável (applications/preview.html). Todo nome, valor e avaliação é fictício e rotulado. Os componentes seguem os tokens: cores, tipografia e espaçamentos vêm de tokens.css.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Confiança. O perfil mostra quatro informações com significados próprios. No protótipo nenhum selo é concedido; apenas ilustramos os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assistente distingue cinco estados. Na simulação nunca se diz 'mensagem enviada'. Os dados são fictícios. O exemplo da proposta ('há três horários livres na terça') mostra como o consentimento dos clientes é respeitado: só recebem os que autorizaram.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Cartão e uniforme. Contatos são marcadores entre colchetes. Antes de produzir em lote é preciso prova de bordado e de impressão.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condomínio: o risco aqui é sugerir associação institucional que não existe; por isso o aviso está no próprio cartaz.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e assinatura. O manual traz nove situações com usar/evitar; aqui mostramos três. Nenhuma assinatura foi aprovada; a primeira é só a recomendação provisória.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de honestidade. O ponto mais crítico é o jurídico: há registros exatos do nome em classes de limpeza e utensílios, de outra empresa. Nenhuma alteração de design elimina esse risco; precisa de um advogado de propriedade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é julgamento de design, não pesquisa de mercado, e o território B recebeu mais iterações (viés de autoria). A escolha do sorriso é do fundador; a matriz só mostra onde precisamos de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e próximos passos. Nenhuma compra, publicação ou registro foi feito. Tudo o que está no kit é provisório até a aprovação de vocês e a análise jurídica.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Estrutura do pacote entregue. O GitHub deve guardar os ativos e regras portáteis; Figma e Canva complementam, mas não são a única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1371600" cy="3474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945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Tinindo · apresentação para o sócio · rascunho v0.2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1371600" cy="3474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945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Tinindo · apresentação para o sócio · rascunho v0.2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6766560" cy="1714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de marca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9319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Conceito, cores, guias e aplicações. Apresentação para o sócio.</a:t>
            </a:r>
            <a:endParaRPr lang="en-US" sz="1800" dirty="0"/>
          </a:p>
        </p:txBody>
      </p:sp>
      <p:sp>
        <p:nvSpPr>
          <p:cNvPr id="5" name="ponto da legenda"/>
          <p:cNvSpPr/>
          <p:nvPr/>
        </p:nvSpPr>
        <p:spPr>
          <a:xfrm>
            <a:off x="731520" y="50292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4937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verbal candidata (provisória): “Serviço bem-feito, negócio em ordem.”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Rascunho v0.2 · 11 de outubro de 2026 · tudo aqui é proposta, não identidade registrada</a:t>
            </a:r>
            <a:endParaRPr lang="en-US" sz="1100" dirty="0"/>
          </a:p>
        </p:txBody>
      </p:sp>
      <p:pic>
        <p:nvPicPr>
          <p:cNvPr id="8" name="Image 1" descr="Símbolo Tini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marcador 1"/>
          <p:cNvSpPr/>
          <p:nvPr/>
        </p:nvSpPr>
        <p:spPr>
          <a:xfrm>
            <a:off x="777240" y="16367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Tinindo existe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Tese, os dois lados da plataforma, públicos, posicionamento, personalidade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3 a 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marcador 2"/>
          <p:cNvSpPr/>
          <p:nvPr/>
        </p:nvSpPr>
        <p:spPr>
          <a:xfrm>
            <a:off x="777240" y="2569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871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chegamos à identidade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487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territórios e o caminho até o sorriso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8 e 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marcador 3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41985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logotipo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Conceito, anatomia, símbolo, ícone de app, regras de uso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34198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10 a 12, 16 e 17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61104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marcador 4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3525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Cor, tipografia e produto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43525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Paleta, regras, tipo, vitrine, confiança e assistente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4352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13 a 15 e 18 a 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93792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marcador 5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2852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Aplicações, voz e o que falta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5285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Peças, tom, riscos, avaliação, próximos passos e decisões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5285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21 a 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tese: o profissional faz o serviço, a Tinindo ajuda a fazer o negócio funcionar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trabalha sozinho acumula execução, atendimento, vendas, agenda, cobrança e compras. Quer realizar o trabalho e atender bem, não aprender cinco sistemas.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dados estruturados e automações podem dar a uma pessoa a capacidade administrativa e comercial que antes exigiria uma equipe pequena.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89520" y="146304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6" name="ponto"/>
          <p:cNvSpPr/>
          <p:nvPr/>
        </p:nvSpPr>
        <p:spPr>
          <a:xfrm>
            <a:off x="7863840" y="17373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 do produto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945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melhor sistema de gestão para um profissional pode ser aquele que ele quase nunca precisa abrir.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de partida, ainda não validada com profissionais reais. “Ajuda a fazer o negócio funcionar” é uma síntese de trabalho, não um slogan aprovado.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lados da mesma plataforma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PROFISSIONAIS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e crescimento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Agenda, disponibilidade e lista de espera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histórico, orçamentos e atendimentos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a receber e visão gerencial simples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Lembretes, recorrência e reativação de clientes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que consulta dados reais e pede aprovação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CONTRATA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 e confiança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profissionais locais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que fazem, onde atendem e quando têm horário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Perfis, portfólios, indicações e avaliações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orçamento ou agendamento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e construir histórico de confiança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Ambições futuras (não são funcionalidades): comunidade de indicação, parcerias com escolas, certificação com critérios verificáveis, equipes próprias treinadas. A marca precisa comportá-las sem prometê-las no lançamento.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públicos, três medos, uma resposta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38328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Público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quer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teme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precisa perceber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Profissional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Organização, tempo, demanda e controle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um sistema difícil, custo sem retorno, perda de autonomia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Ajuda prática, respeito e clareza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Encontrar alguém confiável e resolver o serviço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Atraso, trabalho ruim, avaliações falsas, contratação confusa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de competência e processo transparente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Comunidade / condomínio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Indicações organizadas e serviços recorrentes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Spam, conflitos, falsa associação institucional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Utilidade e regras claras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ponto"/>
          <p:cNvSpPr/>
          <p:nvPr/>
        </p:nvSpPr>
        <p:spPr>
          <a:xfrm>
            <a:off x="548640" y="507492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4983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marca respeita o conhecimento técnico de quem trabalha. Nunca retrata o profissional como incapaz, atrasado ou alguém que precisa ser salvo pela tecnologia. “IA” não é diferencial: o benefício está no trabalho feito, na organização e na confiança.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Posicionamento, promessa e seus limites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marcador 1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(proposta)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profissionais autônomos de serviços e para quem os contrata. Gestão do trabalho com descoberta e reputação. Negócio organizado e profissional encontrável, sem aprender cinco sistemas.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marcador 2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Promessa (proposta)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88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tempo no administrativo, mais clareza sobre o negócio, e perfis em que cada informação tem um significado explícito.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marcador 3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prometemos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788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cheia, aumento de renda, qualidade garantida do serviço, habilitação profissional ou verificação de antecedentes. Um cadastro não prova nada disso.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A Tinindo ajuda quem presta serviço a organizar o negócio e a ser encontrado, e ajuda quem contrata a escolher com clareza.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Personalidade: cinco atributos que viram decisões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visual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verbal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Competência acessível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Hierarquia clara, preto firme, poucos elementos por tela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Frases curtas, termos do ofício, sem jargão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Proximidade sem infantilizar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Sorriso no símbolo, em linha fina e preto adulto; sem mascote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“Você”, sem gíria forçada nem diminutivo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Tecnologia sofisticada, uso simples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Vidro só em camadas flutuantes; movimento contido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Explica o que o assistente fez e pede aprovação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Trabalho bem-feito e organização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Letras finas e precisas, alinhamento rigoroso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“Em ordem”, “bem-feito”, números com contexto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Orgulho profissional e autonomia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Retratos dignos; o profissional é protagonista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profissional decide; a Tinindo ajuda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Começamos com três territórios, comparados nas mesmas situações</a:t>
            </a:r>
            <a:endParaRPr lang="en-US" sz="2800" dirty="0"/>
          </a:p>
        </p:txBody>
      </p:sp>
      <p:pic>
        <p:nvPicPr>
          <p:cNvPr id="3" name="Image 0" descr="Comparativo dos três territó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212080" cy="3868826"/>
          </a:xfrm>
          <a:prstGeom prst="rect">
            <a:avLst/>
          </a:prstGeom>
        </p:spPr>
      </p:pic>
      <p:sp>
        <p:nvSpPr>
          <p:cNvPr id="4" name="ponto"/>
          <p:cNvSpPr/>
          <p:nvPr/>
        </p:nvSpPr>
        <p:spPr>
          <a:xfrm>
            <a:off x="548640" y="15727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Tudo em ordem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892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feito de blocos de agenda. Claro, mas parece software genérico.</a:t>
            </a:r>
            <a:endParaRPr lang="en-US" sz="1400" dirty="0"/>
          </a:p>
        </p:txBody>
      </p:sp>
      <p:sp>
        <p:nvSpPr>
          <p:cNvPr id="7" name="ponto"/>
          <p:cNvSpPr/>
          <p:nvPr/>
        </p:nvSpPr>
        <p:spPr>
          <a:xfrm>
            <a:off x="548640" y="276148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Trabalho que merece indicação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815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Arco com ponto. Maior nota na matriz inicial (7,80).</a:t>
            </a:r>
            <a:endParaRPr lang="en-US" sz="1400" dirty="0"/>
          </a:p>
        </p:txBody>
      </p:sp>
      <p:sp>
        <p:nvSpPr>
          <p:cNvPr id="10" name="ponto"/>
          <p:cNvSpPr/>
          <p:nvPr/>
        </p:nvSpPr>
        <p:spPr>
          <a:xfrm>
            <a:off x="548640" y="39502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Capricho com inteligência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2702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Versais finas e nobres. O fundador gostou da letra, não do símbolo.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5166360"/>
            <a:ext cx="585216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523036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do fundador: gostou da letra fina do C, do pingo destacado nos “I” do A e do B, e pediu cor forte.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chegamos ao sorriso</a:t>
            </a:r>
            <a:endParaRPr lang="en-US" sz="2800" dirty="0"/>
          </a:p>
        </p:txBody>
      </p:sp>
      <p:sp>
        <p:nvSpPr>
          <p:cNvPr id="3" name="marcador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 do C + pingos do A/B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Versais finas, pingos dos “I” em destaque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forte e preto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cores testadas; preto como base, laranja como destaque</a:t>
            </a:r>
            <a:endParaRPr lang="en-US" sz="1200" dirty="0"/>
          </a:p>
        </p:txBody>
      </p:sp>
      <p:sp>
        <p:nvSpPr>
          <p:cNvPr id="11" name="marcador 3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símbolos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i, ii, T-teto, N, anel + ponto; mistura de “ii” com anel</a:t>
            </a:r>
            <a:endParaRPr lang="en-US" sz="1200" dirty="0"/>
          </a:p>
        </p:txBody>
      </p:sp>
      <p:sp>
        <p:nvSpPr>
          <p:cNvPr id="15" name="marcador 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do sorriso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pingos são olhos; o arco do “O” é a boca</a:t>
            </a:r>
            <a:endParaRPr lang="en-US" sz="1200" dirty="0"/>
          </a:p>
        </p:txBody>
      </p:sp>
      <p:sp>
        <p:nvSpPr>
          <p:cNvPr id="19" name="marcador 5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440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Sorriso de 220°, cabeça inclinada 10°, corte em dentes de serra</a:t>
            </a:r>
            <a:endParaRPr lang="en-US" sz="1200" dirty="0"/>
          </a:p>
        </p:txBody>
      </p:sp>
      <p:pic>
        <p:nvPicPr>
          <p:cNvPr id="23" name="Image 0" descr="Passos para o sorriso mais fel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2926080" cy="2546604"/>
          </a:xfrm>
          <a:prstGeom prst="rect">
            <a:avLst/>
          </a:prstGeom>
        </p:spPr>
      </p:pic>
      <p:pic>
        <p:nvPicPr>
          <p:cNvPr id="24" name="Image 1" descr="Recortes no sorri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926080" cy="256672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669280" y="47548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esquerda: cinco passos para deixar o rosto mais feliz. À direita: quatro recortes no sorriso; o escolhido foi o de dentes de serra em duas cores (Z3).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conceito: gente que se encontra, com um sorriso</a:t>
            </a:r>
            <a:endParaRPr lang="en-US" sz="2800" dirty="0"/>
          </a:p>
        </p:txBody>
      </p:sp>
      <p:pic>
        <p:nvPicPr>
          <p:cNvPr id="3" name="Image 0" descr="Os três elementos do concei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35103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pingos laranja dos “I” são o profissional e quem contrata. O “O” é o rosto, inclinado, com um sorriso largo. O corte no meio do sorriso lembra duas partes que se encaixam: um marketplace.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63840" y="4983480"/>
            <a:ext cx="374904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5029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Proximidade sem mascote: o sorriso mora no símbolo; a interface não usa rostos decorativos.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da palavra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Wordmark 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91640"/>
            <a:ext cx="8138160" cy="2061972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Versais finas e largas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e acabamento; traço fino que pede ≥ 120 px de largura.</a:t>
            </a:r>
            <a:endParaRPr lang="en-US" sz="1300" dirty="0"/>
          </a:p>
        </p:txBody>
      </p:sp>
      <p:sp>
        <p:nvSpPr>
          <p:cNvPr id="9" name="marcador 2"/>
          <p:cNvSpPr/>
          <p:nvPr/>
        </p:nvSpPr>
        <p:spPr>
          <a:xfrm>
            <a:off x="333756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375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Pingos laranja nos dois “I”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pessoas; são os olhos do rosto do símbolo.</a:t>
            </a:r>
            <a:endParaRPr lang="en-US" sz="1300" dirty="0"/>
          </a:p>
        </p:txBody>
      </p:sp>
      <p:sp>
        <p:nvSpPr>
          <p:cNvPr id="13" name="marcador 3"/>
          <p:cNvSpPr/>
          <p:nvPr/>
        </p:nvSpPr>
        <p:spPr>
          <a:xfrm>
            <a:off x="612648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“O” inclinado 10°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desenho do símbolo. Cabeça levemente inclinada: simpatia.</a:t>
            </a:r>
            <a:endParaRPr lang="en-US" sz="1300" dirty="0"/>
          </a:p>
        </p:txBody>
      </p:sp>
      <p:sp>
        <p:nvSpPr>
          <p:cNvPr id="17" name="marcador 4"/>
          <p:cNvSpPr/>
          <p:nvPr/>
        </p:nvSpPr>
        <p:spPr>
          <a:xfrm>
            <a:off x="891540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154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Sorriso de 220° cortado ao meio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Dentes de serra, metade laranja, metade preta: duas partes que se encaixam.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símbolo e suas variantes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4" name="Image 0" descr="Principal (sem an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(sem anel)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8892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111111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7" name="Image 1" descr="Neg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8308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78892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10" name="Image 2" descr="Com anel (uso grand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83080"/>
            <a:ext cx="1463040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2920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anel (uso grande)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26948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13" name="Image 3" descr="Pequeno óptico (≤ 24 px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83080"/>
            <a:ext cx="1463040" cy="1463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26948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 óptico (≤ 24 px)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950976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16" name="Image 4" descr="Uma cor (com fresta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783080"/>
            <a:ext cx="1463040" cy="1463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0976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cor (com fresta)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sem anel: é o que vai no ícone do app, no avatar e em tamanhos pequenos.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variante óptica tem corte reto, olhos e sorriso maiores, para sobreviver a 16 px.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preto ou branco puro não há duas cores para separar as metades: o corte vira uma fresta fina.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Paleta: preto como base, laranja como destaque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0" cy="2468880"/>
          </a:xfrm>
          <a:prstGeom prst="roundRect">
            <a:avLst>
              <a:gd name="adj" fmla="val 3704"/>
            </a:avLst>
          </a:prstGeom>
          <a:solidFill>
            <a:srgbClr val="111111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950 · base da marca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#111111 · RGB 17, 17, 17 · CMYK aprox. 0/0/0/93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417320"/>
            <a:ext cx="3291840" cy="2468880"/>
          </a:xfrm>
          <a:prstGeom prst="roundRect">
            <a:avLst>
              <a:gd name="adj" fmla="val 3704"/>
            </a:avLst>
          </a:prstGeom>
          <a:solidFill>
            <a:srgbClr val="FF4B1F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500 · destaque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#FF4B1F · RGB 255, 75, 31 · CMYK aprox. 0/71/88/0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0" y="14173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7F7F5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50 · fundo claro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#F7F7F5 · RGB 247, 247, 245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F6A3D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400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escuro #FF6A3D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4069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B33008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700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#B33008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4069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C1C1A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900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superfície escura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40690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62625D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500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bordas de controle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84080" y="4069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EDED9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200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bordas leves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Funcionais (sucesso, atenção, erro, informação) ficam separadas da marca e sempre com ícone e texto. CMYK é aproximação; não há equivalência Pantone. Laranja vivo exige prova impressa.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cor, com números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17,6:1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preto sobre papel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5,65:1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 sobre laranja (fundo laranja com logo preto)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3,12:1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como texto sobre papel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</a:t>
            </a:r>
            <a:endParaRPr lang="en-US" sz="1200" dirty="0"/>
          </a:p>
        </p:txBody>
      </p:sp>
      <p:sp>
        <p:nvSpPr>
          <p:cNvPr id="15" name="ponto"/>
          <p:cNvSpPr/>
          <p:nvPr/>
        </p:nvSpPr>
        <p:spPr>
          <a:xfrm>
            <a:off x="548640" y="37033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611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ação principal da interface é preta. Laranja não é cor de botão.</a:t>
            </a:r>
            <a:endParaRPr lang="en-US" sz="1400" dirty="0"/>
          </a:p>
        </p:txBody>
      </p:sp>
      <p:sp>
        <p:nvSpPr>
          <p:cNvPr id="17" name="ponto"/>
          <p:cNvSpPr/>
          <p:nvPr/>
        </p:nvSpPr>
        <p:spPr>
          <a:xfrm>
            <a:off x="548640" y="41605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0690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não é cor de estado (erro vermelho, atenção âmbar): evita confundir marca com alerta.</a:t>
            </a:r>
            <a:endParaRPr lang="en-US" sz="1400" dirty="0"/>
          </a:p>
        </p:txBody>
      </p:sp>
      <p:sp>
        <p:nvSpPr>
          <p:cNvPr id="19" name="ponto"/>
          <p:cNvSpPr/>
          <p:nvPr/>
        </p:nvSpPr>
        <p:spPr>
          <a:xfrm>
            <a:off x="548640" y="46177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26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nunca é cor de texto corrido; texto em destaque usa laranja 700.</a:t>
            </a:r>
            <a:endParaRPr lang="en-US" sz="1400" dirty="0"/>
          </a:p>
        </p:txBody>
      </p:sp>
      <p:sp>
        <p:nvSpPr>
          <p:cNvPr id="21" name="ponto"/>
          <p:cNvSpPr/>
          <p:nvPr/>
        </p:nvSpPr>
        <p:spPr>
          <a:xfrm>
            <a:off x="548640" y="50749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983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Sorriso em laranja claro ou cinza claro foi testado e rejeitado: 1,8:1 a 2,0:1, some no fundo claro.</a:t>
            </a:r>
            <a:endParaRPr lang="en-US" sz="1400" dirty="0"/>
          </a:p>
        </p:txBody>
      </p:sp>
      <p:sp>
        <p:nvSpPr>
          <p:cNvPr id="23" name="ponto"/>
          <p:cNvSpPr/>
          <p:nvPr/>
        </p:nvSpPr>
        <p:spPr>
          <a:xfrm>
            <a:off x="548640" y="55321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440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Estado, avaliação e disponibilidade nunca só por cor: sempre ícone e texto.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Tipografia: letras próprias no logotipo, Inter na interface</a:t>
            </a:r>
            <a:endParaRPr lang="en-US" sz="2800" dirty="0"/>
          </a:p>
        </p:txBody>
      </p:sp>
      <p:pic>
        <p:nvPicPr>
          <p:cNvPr id="3" name="Image 0" descr="Especimene Inter com acentos e núme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302300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4630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é lettering próprio, não uma fonte.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Interface: Inter e Inter Display (licença OFL 1.1, verificada no pacote local).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Pesos: 400, 500, 600; 700 só em títulos grandes.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Rótulos em caixa-alta com espaçamento: ecoam as versais do wordmark.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de agenda, preço e indicador em tabulares.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 verificado: ação, João, terça-feira, R$ 1.250,00.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892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incorporamos fontes proprietárias da Apple. Nesta apresentação usamos Arial por segurança de compatibilidade.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do app, avatar de WhatsApp e favicon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40233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Ícone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do app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preto; símbolo sem anel, inclinado, em 58% do lado. A plataforma aplica a máscara.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34840" y="1417320"/>
            <a:ext cx="3657600" cy="40233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Avatar cla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91640"/>
            <a:ext cx="1371600" cy="1371600"/>
          </a:xfrm>
          <a:prstGeom prst="ellipse">
            <a:avLst/>
          </a:prstGeom>
        </p:spPr>
      </p:pic>
      <p:pic>
        <p:nvPicPr>
          <p:cNvPr id="9" name="Image 2" descr="Avatar escu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1371600" cy="1371600"/>
          </a:xfrm>
          <a:prstGeom prst="ellipse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1772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de WhatsApp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461772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circular com margem de segurança: o símbolo ocupa 50% do lado. Versões clara e escura.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321040" y="1417320"/>
            <a:ext cx="3291840" cy="40233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Favicon 4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737360"/>
            <a:ext cx="438912" cy="438912"/>
          </a:xfrm>
          <a:prstGeom prst="rect">
            <a:avLst/>
          </a:prstGeom>
        </p:spPr>
      </p:pic>
      <p:pic>
        <p:nvPicPr>
          <p:cNvPr id="14" name="Image 4" descr="Favicon 3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737360"/>
            <a:ext cx="292608" cy="292608"/>
          </a:xfrm>
          <a:prstGeom prst="rect">
            <a:avLst/>
          </a:prstGeom>
        </p:spPr>
      </p:pic>
      <p:pic>
        <p:nvPicPr>
          <p:cNvPr id="15" name="Image 5" descr="Favicon 1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1737360"/>
            <a:ext cx="146304" cy="146304"/>
          </a:xfrm>
          <a:prstGeom prst="rect">
            <a:avLst/>
          </a:prstGeom>
        </p:spPr>
      </p:pic>
      <p:pic>
        <p:nvPicPr>
          <p:cNvPr id="16" name="Image 6" descr="Variante óptica ampliad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2468880"/>
            <a:ext cx="1463040" cy="14630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50392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 e ícones pequenos</a:t>
            </a:r>
            <a:endParaRPr lang="en-US" sz="1500" dirty="0"/>
          </a:p>
        </p:txBody>
      </p:sp>
      <p:sp>
        <p:nvSpPr>
          <p:cNvPr id="18" name="Text 9"/>
          <p:cNvSpPr txBox="1"/>
          <p:nvPr/>
        </p:nvSpPr>
        <p:spPr>
          <a:xfrm>
            <a:off x="8503920" y="4434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óptica: corte reto, olhos e sorriso maiores. Reconhecível a 16 px; o lado direito troca para branco no tema escuro.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usar: proteção, tamanhos mínimos e o que evitar</a:t>
            </a:r>
            <a:endParaRPr lang="en-US" sz="2800" dirty="0"/>
          </a:p>
        </p:txBody>
      </p:sp>
      <p:pic>
        <p:nvPicPr>
          <p:cNvPr id="3" name="Image 0" descr="Área de prote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0" cy="22238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proteção: raio do “O” em todos os lados.</a:t>
            </a:r>
            <a:endParaRPr lang="en-US" sz="1400" dirty="0"/>
          </a:p>
        </p:txBody>
      </p:sp>
      <p:pic>
        <p:nvPicPr>
          <p:cNvPr id="5" name="Image 1" descr="Teste de escal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4937760" cy="8485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49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Mínimos medidos em pixels reais: wordmark 120 px de largura; símbolo 16 px (variante óptica) e 32 px. Abaixo de 120 px, use o símbolo.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evitar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17830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distorcer, girar a palavra, aplicar sombra ou vidro, recolorir, usar sobre fundo movimentado nem abaixo do mínimo. Nunca endireitar o “O” nem inverter as metades do sorriso.</a:t>
            </a:r>
            <a:endParaRPr lang="en-US" sz="1400" dirty="0"/>
          </a:p>
        </p:txBody>
      </p:sp>
      <p:pic>
        <p:nvPicPr>
          <p:cNvPr id="9" name="Image 2" descr="Uso incorre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5577840" cy="21451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com a identidade: vitrine de demonstração</a:t>
            </a:r>
            <a:endParaRPr lang="en-US" sz="2800" dirty="0"/>
          </a:p>
        </p:txBody>
      </p:sp>
      <p:pic>
        <p:nvPicPr>
          <p:cNvPr id="3" name="Image 0" descr="Página ini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12080" cy="2761488"/>
          </a:xfrm>
          <a:prstGeom prst="rect">
            <a:avLst/>
          </a:prstGeom>
        </p:spPr>
      </p:pic>
      <p:pic>
        <p:nvPicPr>
          <p:cNvPr id="4" name="Image 1" descr="Agenda do prest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627218" cy="4297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34340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inicial com os dois públicos: “Para profissionais” e “Encontre um profissional”.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com estados por ícone e texto: confirmado, aguardando, cancelado, bloqueado e livre.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principal preta; laranja só como destaque.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 e escuro, responsivo, dados fictícios rotulados.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 com significado explícito</a:t>
            </a:r>
            <a:endParaRPr lang="en-US" sz="2800" dirty="0"/>
          </a:p>
        </p:txBody>
      </p:sp>
      <p:pic>
        <p:nvPicPr>
          <p:cNvPr id="3" name="Image 0" descr="Quatro informações separadas no perf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125089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0175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ponto"/>
          <p:cNvSpPr/>
          <p:nvPr/>
        </p:nvSpPr>
        <p:spPr>
          <a:xfrm>
            <a:off x="777240" y="324612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coisas diferentes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verificada, avaliação de cliente, serviço feito pela plataforma e formação não implicam umas às outras.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30175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ponto"/>
          <p:cNvSpPr/>
          <p:nvPr/>
        </p:nvSpPr>
        <p:spPr>
          <a:xfrm>
            <a:off x="6400800" y="324612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Patrocinado é patrocinado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 pago traz o rótulo “Patrocinado”: a posição não indica melhor avaliação.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48056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ponto"/>
          <p:cNvSpPr/>
          <p:nvPr/>
        </p:nvSpPr>
        <p:spPr>
          <a:xfrm>
            <a:off x="777240" y="4709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novo é honesto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“Perfil novo · ainda sem avaliações”. Todo profissional começa assim.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448056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ponto"/>
          <p:cNvSpPr/>
          <p:nvPr/>
        </p:nvSpPr>
        <p:spPr>
          <a:xfrm>
            <a:off x="6400800" y="4709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selo “Tinindo garante”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existiria com política e operação correspondentes.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assistente consulta, recomenda e pede aprovação</a:t>
            </a:r>
            <a:endParaRPr lang="en-US" sz="2800" dirty="0"/>
          </a:p>
        </p:txBody>
      </p:sp>
      <p:pic>
        <p:nvPicPr>
          <p:cNvPr id="3" name="Image 0" descr="Diálogo de aprovação do ag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34456" cy="4389120"/>
          </a:xfrm>
          <a:prstGeom prst="rect">
            <a:avLst/>
          </a:prstGeom>
        </p:spPr>
      </p:pic>
      <p:sp>
        <p:nvSpPr>
          <p:cNvPr id="4" name="marcador 1"/>
          <p:cNvSpPr/>
          <p:nvPr/>
        </p:nvSpPr>
        <p:spPr>
          <a:xfrm>
            <a:off x="65836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consultada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de onde veio o dado</a:t>
            </a:r>
            <a:endParaRPr lang="en-US" sz="1300" dirty="0"/>
          </a:p>
        </p:txBody>
      </p:sp>
      <p:sp>
        <p:nvSpPr>
          <p:cNvPr id="8" name="marcador 2"/>
          <p:cNvSpPr/>
          <p:nvPr/>
        </p:nvSpPr>
        <p:spPr>
          <a:xfrm>
            <a:off x="6583680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651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executa nada</a:t>
            </a:r>
            <a:endParaRPr lang="en-US" sz="1300" dirty="0"/>
          </a:p>
        </p:txBody>
      </p:sp>
      <p:sp>
        <p:nvSpPr>
          <p:cNvPr id="12" name="marcador 3"/>
          <p:cNvSpPr/>
          <p:nvPr/>
        </p:nvSpPr>
        <p:spPr>
          <a:xfrm>
            <a:off x="658368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pendente de aprovação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520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destinatários, texto, desconto, custo estimado e horário</a:t>
            </a:r>
            <a:endParaRPr lang="en-US" sz="1300" dirty="0"/>
          </a:p>
        </p:txBody>
      </p:sp>
      <p:sp>
        <p:nvSpPr>
          <p:cNvPr id="16" name="marcador 4"/>
          <p:cNvSpPr/>
          <p:nvPr/>
        </p:nvSpPr>
        <p:spPr>
          <a:xfrm>
            <a:off x="658368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4023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executada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protótipo: “simulada”, nada enviado de verdade</a:t>
            </a:r>
            <a:endParaRPr lang="en-US" sz="1300" dirty="0"/>
          </a:p>
        </p:txBody>
      </p:sp>
      <p:sp>
        <p:nvSpPr>
          <p:cNvPr id="20" name="marcador 5"/>
          <p:cNvSpPr/>
          <p:nvPr/>
        </p:nvSpPr>
        <p:spPr>
          <a:xfrm>
            <a:off x="6583680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4892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5257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não aconteceu e oferece alternativa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Aplicações: cartão de indicação e uniforme</a:t>
            </a:r>
            <a:endParaRPr lang="en-US" sz="2800" dirty="0"/>
          </a:p>
        </p:txBody>
      </p:sp>
      <p:pic>
        <p:nvPicPr>
          <p:cNvPr id="3" name="Image 0" descr="Cartão de indicação e unifor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1934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Bordado em duas cores exige dois fios; versão de uma cor usa fresta. Mínimos de bordado (30 mm símbolo, 60 mm palavra) são hipótese, ainda não testada com bordadeira real.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Aplicações: cartaz de condomínio e avatar</a:t>
            </a:r>
            <a:endParaRPr lang="en-US" sz="2800" dirty="0"/>
          </a:p>
        </p:txBody>
      </p:sp>
      <p:pic>
        <p:nvPicPr>
          <p:cNvPr id="3" name="Image 0" descr="Cartaz e ava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76288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cartaz declara que não é comunicado do condomínio nem aval da administração.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Contatos e QR code são marcadores; nada é real.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avatar foi testado em recorte circular.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Voz: adulta, próxima, sem promessa exagerada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Profissional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“Organize o negócio. Continue no seu ofício.”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“Revolucione seu negócio com IA!”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Proposta do agente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“Há três horários livres na terça. Posso preparar uma mensagem. Você revisa antes do envio.”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“Já mandei mensagem para todo mundo.”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sem avaliações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“Perfil novo · ainda sem avaliações.”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“Contrate por sua conta e risco.”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Assinaturas (nenhuma aprovada)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818120" y="1920240"/>
            <a:ext cx="3794760" cy="594360"/>
          </a:xfrm>
          <a:prstGeom prst="roundRect">
            <a:avLst>
              <a:gd name="adj" fmla="val 184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ponto"/>
          <p:cNvSpPr/>
          <p:nvPr/>
        </p:nvSpPr>
        <p:spPr>
          <a:xfrm>
            <a:off x="7955280" y="207568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6676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bem-feito, negócio em ordem.</a:t>
            </a:r>
            <a:endParaRPr lang="en-US" sz="1300" dirty="0"/>
          </a:p>
        </p:txBody>
      </p:sp>
      <p:sp>
        <p:nvSpPr>
          <p:cNvPr id="8" name="marcador 2"/>
          <p:cNvSpPr/>
          <p:nvPr/>
        </p:nvSpPr>
        <p:spPr>
          <a:xfrm>
            <a:off x="7909560" y="264261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6243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trabalho bem-feito. Seu negócio em dia.</a:t>
            </a:r>
            <a:endParaRPr lang="en-US" sz="1300" dirty="0"/>
          </a:p>
        </p:txBody>
      </p:sp>
      <p:sp>
        <p:nvSpPr>
          <p:cNvPr id="11" name="marcador 3"/>
          <p:cNvSpPr/>
          <p:nvPr/>
        </p:nvSpPr>
        <p:spPr>
          <a:xfrm>
            <a:off x="7909560" y="33009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2826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faz o serviço. A Tinindo ajuda no resto.</a:t>
            </a:r>
            <a:endParaRPr lang="en-US" sz="1300" dirty="0"/>
          </a:p>
        </p:txBody>
      </p:sp>
      <p:sp>
        <p:nvSpPr>
          <p:cNvPr id="14" name="marcador 4"/>
          <p:cNvSpPr/>
          <p:nvPr/>
        </p:nvSpPr>
        <p:spPr>
          <a:xfrm>
            <a:off x="7909560" y="395935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39410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bem-feito merece ser encontrado.</a:t>
            </a:r>
            <a:endParaRPr lang="en-US" sz="1300" dirty="0"/>
          </a:p>
        </p:txBody>
      </p:sp>
      <p:sp>
        <p:nvSpPr>
          <p:cNvPr id="17" name="marcador 5"/>
          <p:cNvSpPr/>
          <p:nvPr/>
        </p:nvSpPr>
        <p:spPr>
          <a:xfrm>
            <a:off x="7909560" y="461772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0956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45994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Gente que faz bem-feito, gente que se encontra.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provisória: a 1ª, que ecoa o sentido de “tinindo”, serve aos dois lados e não promete resultado financeiro. Falta validar com o público.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ainda não sabemos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4" name="marcador 1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 02/10 (relatada, não reverificada): 3M Company tem registros exatos TININDO nas classes 03 e 21. Domínio não libera a marca. Sem parecer.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9" name="marcador 2"/>
          <p:cNvSpPr/>
          <p:nvPr/>
        </p:nvSpPr>
        <p:spPr>
          <a:xfrm>
            <a:off x="452628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mercado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feita (sem acesso à rede). Distinção em relação a concorrentes e a marcas com sorriso é hipótese.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14" name="marcador 3"/>
          <p:cNvSpPr/>
          <p:nvPr/>
        </p:nvSpPr>
        <p:spPr>
          <a:xfrm>
            <a:off x="827532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Rosto sorridente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comum; pode soar infantil. Mitigação: letras finas, preto adulto, sem sorrisos decorativos. Não testado com pessoas.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19" name="marcador 4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Traço fino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só funciona a partir de 120 px. Abaixo disso, usar o símbolo.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24" name="marcador 5"/>
          <p:cNvSpPr/>
          <p:nvPr/>
        </p:nvSpPr>
        <p:spPr>
          <a:xfrm>
            <a:off x="452628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cores e corte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Bordado e impressão precisam de prova. Os arquivos já são contornos fechados, prontos para produção.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29" name="marcador 6"/>
          <p:cNvSpPr/>
          <p:nvPr/>
        </p:nvSpPr>
        <p:spPr>
          <a:xfrm>
            <a:off x="827532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medido; teclado, leitor de tela e zoom ainda não testados. Sem declaração de conformidade.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pela mesma matriz: sorriso e território B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417320"/>
            <a:ext cx="3657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183880" y="1508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7,80 × 6,85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ponderada: B × sorriso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017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sorriso perde em distinção e reprodução.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Ganha em memorização e emoção.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riscos são tratáveis com regras: mínimos, variante óptica e fresta.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pesquisa nem diligência jurídica.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 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para fundador e sócio</a:t>
            </a:r>
            <a:endParaRPr lang="en-US" sz="2000" dirty="0"/>
          </a:p>
        </p:txBody>
      </p:sp>
      <p:sp>
        <p:nvSpPr>
          <p:cNvPr id="6" name="marcador 1"/>
          <p:cNvSpPr/>
          <p:nvPr/>
        </p:nvSpPr>
        <p:spPr>
          <a:xfrm>
            <a:off x="822960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ou ajustar a identidade “sorriso” (preto e laranja)</a:t>
            </a:r>
            <a:endParaRPr lang="en-US" sz="1400" dirty="0"/>
          </a:p>
        </p:txBody>
      </p:sp>
      <p:sp>
        <p:nvSpPr>
          <p:cNvPr id="9" name="marcador 2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a diligência jurídica do nome (advogado de PI)</a:t>
            </a:r>
            <a:endParaRPr lang="en-US" sz="1400" dirty="0"/>
          </a:p>
        </p:txBody>
      </p:sp>
      <p:sp>
        <p:nvSpPr>
          <p:cNvPr id="12" name="marcador 3"/>
          <p:cNvSpPr/>
          <p:nvPr/>
        </p:nvSpPr>
        <p:spPr>
          <a:xfrm>
            <a:off x="822960" y="3657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11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uma assinatura verbal, ou pedir outras</a:t>
            </a:r>
            <a:endParaRPr lang="en-US" sz="1400" dirty="0"/>
          </a:p>
        </p:txBody>
      </p:sp>
      <p:sp>
        <p:nvSpPr>
          <p:cNvPr id="15" name="marcador 4"/>
          <p:cNvSpPr/>
          <p:nvPr/>
        </p:nvSpPr>
        <p:spPr>
          <a:xfrm>
            <a:off x="822960" y="4389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343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Indicar o repositório da Tinindo para guardar o kit</a:t>
            </a:r>
            <a:endParaRPr lang="en-US" sz="1400" dirty="0"/>
          </a:p>
        </p:txBody>
      </p:sp>
      <p:sp>
        <p:nvSpPr>
          <p:cNvPr id="18" name="marcador 5"/>
          <p:cNvSpPr/>
          <p:nvPr/>
        </p:nvSpPr>
        <p:spPr>
          <a:xfrm>
            <a:off x="822960" y="5120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074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pesquisa de referências com navegação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propostos</a:t>
            </a:r>
            <a:endParaRPr lang="en-US" sz="2000" dirty="0"/>
          </a:p>
        </p:txBody>
      </p:sp>
      <p:sp>
        <p:nvSpPr>
          <p:cNvPr id="22" name="ponto"/>
          <p:cNvSpPr/>
          <p:nvPr/>
        </p:nvSpPr>
        <p:spPr>
          <a:xfrm>
            <a:off x="6492240" y="22860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provas de impressão e de bordado</a:t>
            </a:r>
            <a:endParaRPr lang="en-US" sz="1400" dirty="0"/>
          </a:p>
        </p:txBody>
      </p:sp>
      <p:sp>
        <p:nvSpPr>
          <p:cNvPr id="24" name="ponto"/>
          <p:cNvSpPr/>
          <p:nvPr/>
        </p:nvSpPr>
        <p:spPr>
          <a:xfrm>
            <a:off x="6492240" y="2907792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27706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o logotipo com 5 a 10 profissionais e contratantes (hipótese de amostra)</a:t>
            </a:r>
            <a:endParaRPr lang="en-US" sz="1400" dirty="0"/>
          </a:p>
        </p:txBody>
      </p:sp>
      <p:sp>
        <p:nvSpPr>
          <p:cNvPr id="26" name="ponto"/>
          <p:cNvSpPr/>
          <p:nvPr/>
        </p:nvSpPr>
        <p:spPr>
          <a:xfrm>
            <a:off x="6492240" y="35295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33924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referências e de marcas com sorriso</a:t>
            </a:r>
            <a:endParaRPr lang="en-US" sz="1400" dirty="0"/>
          </a:p>
        </p:txBody>
      </p:sp>
      <p:sp>
        <p:nvSpPr>
          <p:cNvPr id="28" name="ponto"/>
          <p:cNvSpPr/>
          <p:nvPr/>
        </p:nvSpPr>
        <p:spPr>
          <a:xfrm>
            <a:off x="6492240" y="415137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4014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de acessibilidade com teclado e leitor de tela</a:t>
            </a:r>
            <a:endParaRPr lang="en-US" sz="1400" dirty="0"/>
          </a:p>
        </p:txBody>
      </p:sp>
      <p:sp>
        <p:nvSpPr>
          <p:cNvPr id="30" name="ponto"/>
          <p:cNvSpPr/>
          <p:nvPr/>
        </p:nvSpPr>
        <p:spPr>
          <a:xfrm>
            <a:off x="6492240" y="4773168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46360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o produto no Lovable/GitHub usando os tokens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Anexo: o que está no pacote de arquivos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949440" cy="3840480"/>
          </a:xfrm>
          <a:prstGeom prst="roundRect">
            <a:avLst>
              <a:gd name="adj" fmla="val 2857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6583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tinindo-brand/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BRAND.md  DECISIONS.md  STATUS.md  LICENSES.md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guidelines/   manual de marca (md, html, pdf)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assets/       logo/  icons/  app-icons/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tokens/       tokens.json  tokens.css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applications/ preview.html  pieces.html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apresentacao/ esta apresentação (pptx)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handoff/      Lovable, Claude Code, Codex,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Canva e Figma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research/     territórios, matriz, referências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46304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Logotipos em SVG vetorial real e PNG.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JSON e CSS com os mesmos nomes e valores.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para humanos e agentes de código em BRAND.md.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foi publicado, comprado ou registrado.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nindo">
  <a:themeElements>
    <a:clrScheme name="Tinindo">
      <a:dk1>
        <a:srgbClr val="111111"/>
      </a:dk1>
      <a:lt1>
        <a:srgbClr val="FFFFFF"/>
      </a:lt1>
      <a:dk2>
        <a:srgbClr val="2A2A28"/>
      </a:dk2>
      <a:lt2>
        <a:srgbClr val="F7F7F5"/>
      </a:lt2>
      <a:accent1>
        <a:srgbClr val="FF4B1F"/>
      </a:accent1>
      <a:accent2>
        <a:srgbClr val="111111"/>
      </a:accent2>
      <a:accent3>
        <a:srgbClr val="62625D"/>
      </a:accent3>
      <a:accent4>
        <a:srgbClr val="1D5AA6"/>
      </a:accent4>
      <a:accent5>
        <a:srgbClr val="1F6E3A"/>
      </a:accent5>
      <a:accent6>
        <a:srgbClr val="B33008"/>
      </a:accent6>
      <a:hlink>
        <a:srgbClr val="111111"/>
      </a:hlink>
      <a:folHlink>
        <a:srgbClr val="62625D"/>
      </a:folHlink>
    </a:clrScheme>
    <a:fontScheme name="Tinind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Tinindo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Tinindo — identidade de marca (apresentação para o sócio)</dc:title>
  <dc:subject>PptxGenJS Presentation</dc:subject>
  <dc:creator>Felipe Ferreira Falleiros</dc:creator>
  <cp:lastModifiedBy>Felipe Ferreira Falleiros</cp:lastModifiedBy>
  <cp:revision>1</cp:revision>
  <dcterms:created xsi:type="dcterms:W3CDTF">2026-10-11T21:38:41Z</dcterms:created>
  <dcterms:modified xsi:type="dcterms:W3CDTF">2026-10-11T21:38:41Z</dcterms:modified>
</cp:coreProperties>
</file>